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5303520" cy="4114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  BCSE355L – CLOUD ARCHITECTURE DESIGN  •  PROJECT FINAL REVIEW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IntelliArchive: Intelligent Object Lifecycle</a:t>
            </a:r>
          </a:p>
          <a:p>
            <a:pPr>
              <a:defRPr sz="3000" b="1">
                <a:solidFill>
                  <a:srgbClr val="38BDF8"/>
                </a:solidFill>
              </a:defRPr>
            </a:pPr>
            <a:r>
              <a:t>Optimization for Satellite Archives using Vision Foundation Models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Content-Aware Cloud Storage Tiering (S3 Standard / IA / Glacier) via OpenAI CLIP ViT-B/32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 K. Pavan Kumar Reddy  (Reg. No: 24BIT0580)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 Anhad  (Reg. No: 24BIT0129)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114800"/>
            <a:ext cx="4572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4297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ACADEMIC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7548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Course Faculty:  Dr. Priya V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School of Computer Science &amp; Engineering (SCOPE)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Vellore Institute of Technology,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Statement: The Flaw in Static Cloud Lifecycle Policies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TRADITIONAL S3 LIFECYCLE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300">
                <a:solidFill>
                  <a:srgbClr val="FBBF24"/>
                </a:solidFill>
              </a:rPr>
              <a:t>• Time-Only Triggers: </a:t>
            </a:r>
            <a:r>
              <a:rPr sz="1200">
                <a:solidFill>
                  <a:srgbClr val="FFFFFF"/>
                </a:solidFill>
              </a:rPr>
              <a:t>Objects transition strictly based on creation age (e.g. 30, 90, 180 days) regardless of content value.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BBF24"/>
                </a:solidFill>
              </a:rPr>
              <a:t>• Blind Prefix Filtering: </a:t>
            </a:r>
            <a:r>
              <a:rPr sz="1200">
                <a:solidFill>
                  <a:srgbClr val="FFFFFF"/>
                </a:solidFill>
              </a:rPr>
              <a:t>Prefix rules treat all files in a folder equally. High-value and low-value images are grouped together.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BBF24"/>
                </a:solidFill>
              </a:rPr>
              <a:t>• Premature Archival: </a:t>
            </a:r>
            <a:r>
              <a:rPr sz="1200">
                <a:solidFill>
                  <a:srgbClr val="FFFFFF"/>
                </a:solidFill>
              </a:rPr>
              <a:t>Critical urban disaster and high-resolution infrastructure imagery gets cold-archived prematurely, incurring expensive retrieval latencies.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FBBF24"/>
                </a:solidFill>
              </a:rPr>
              <a:t>• Unnecessary Hot Costs: </a:t>
            </a:r>
            <a:r>
              <a:rPr sz="1200">
                <a:solidFill>
                  <a:srgbClr val="FFFFFF"/>
                </a:solidFill>
              </a:rPr>
              <a:t>Cloud-obscured, blurred, or empty terrain imagery sits in expensive S3 Standard for months before expiring.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INTELLIARCHIVE PARADIGM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300">
                <a:solidFill>
                  <a:srgbClr val="34D399"/>
                </a:solidFill>
              </a:rPr>
              <a:t>• Content-Aware Intelligence: </a:t>
            </a:r>
            <a:r>
              <a:rPr sz="1200">
                <a:solidFill>
                  <a:srgbClr val="FFFFFF"/>
                </a:solidFill>
              </a:rPr>
              <a:t>Evaluates the actual semantic information in satellite imagery at ingestion time.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34D399"/>
                </a:solidFill>
              </a:rPr>
              <a:t>• Vision Foundation Models: </a:t>
            </a:r>
            <a:r>
              <a:rPr sz="1200">
                <a:solidFill>
                  <a:srgbClr val="FFFFFF"/>
                </a:solidFill>
              </a:rPr>
              <a:t>Leverages zero-shot OpenAI CLIP ViT-B/32 to score geospatial utility without requiring custom task training.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34D399"/>
                </a:solidFill>
              </a:rPr>
              <a:t>• Automated Tiering Logic: </a:t>
            </a:r>
            <a:r>
              <a:rPr sz="1200">
                <a:solidFill>
                  <a:srgbClr val="FFFFFF"/>
                </a:solidFill>
              </a:rPr>
              <a:t>Dynamically maps high-utility imagery to S3 Standard, moderate detail to S3 Standard-IA, and empty/cloudy imagery to S3 Glacier immediately.</a:t>
            </a:r>
          </a:p>
          <a:p>
            <a:pPr>
              <a:spcBef>
                <a:spcPts val="1200"/>
              </a:spcBef>
            </a:pPr>
            <a:r>
              <a:rPr b="1" sz="1300">
                <a:solidFill>
                  <a:srgbClr val="34D399"/>
                </a:solidFill>
              </a:rPr>
              <a:t>• Provable Cost Reductions: </a:t>
            </a:r>
            <a:r>
              <a:rPr sz="1200">
                <a:solidFill>
                  <a:srgbClr val="FFFFFF"/>
                </a:solidFill>
              </a:rPr>
              <a:t>Simulates up to 45% - 60% recurring monthly storage savings while preserving immediate access to critical assets.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Objectives &amp; Research Novelty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38BDF8"/>
                </a:solidFill>
              </a:rPr>
              <a:t>1. Zero-Shot Semantic Evaluation  —  </a:t>
            </a:r>
            <a:r>
              <a:rPr sz="1200">
                <a:solidFill>
                  <a:srgbClr val="FFFFFF"/>
                </a:solidFill>
              </a:rPr>
              <a:t>Implement vision foundation models (CLIP ViT-B/32) to compute semantic importance scores without labor-intensive manual labeling.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34D399"/>
                </a:solidFill>
              </a:rPr>
              <a:t>2. Intelligent S3 Storage Tiering  —  </a:t>
            </a:r>
            <a:r>
              <a:rPr sz="1200">
                <a:solidFill>
                  <a:srgbClr val="FFFFFF"/>
                </a:solidFill>
              </a:rPr>
              <a:t>Automate storage allocation across AWS S3 Standard, S3 Standard-IA, and S3 Glacier Flexible Retrieval based on semantic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FBBF24"/>
                </a:solidFill>
              </a:rPr>
              <a:t>3. Dual-Engine Storage Architecture  —  </a:t>
            </a:r>
            <a:r>
              <a:rPr sz="1200">
                <a:solidFill>
                  <a:srgbClr val="FFFFFF"/>
                </a:solidFill>
              </a:rPr>
              <a:t>Simulate multi-tier local storage alongside live Amazon S3 private bucket integration in AWS ap-south-1 (Mumbai).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5312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38BDF8"/>
                </a:solidFill>
              </a:rPr>
              <a:t>4. Interactive Web Platform  —  </a:t>
            </a:r>
            <a:r>
              <a:rPr sz="1200">
                <a:solidFill>
                  <a:srgbClr val="FFFFFF"/>
                </a:solidFill>
              </a:rPr>
              <a:t>Develop a FastAPI dashboard with real-time inference, archive filtering, and interactive Chart.js cost optimization visualizers.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13248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34D399"/>
                </a:solidFill>
              </a:rPr>
              <a:t>5. Containerization &amp; Verification  —  </a:t>
            </a:r>
            <a:r>
              <a:rPr sz="1200">
                <a:solidFill>
                  <a:srgbClr val="FFFFFF"/>
                </a:solidFill>
              </a:rPr>
              <a:t>Dockerize with CPU-optimized PyTorch wheels (1.36 GB pushed to Amazon ECR) and 100% automated test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Architecture: Local Prototype vs. AWS Cloud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CURRENT IMPLEMENTED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Execution Engine: </a:t>
            </a:r>
            <a:r>
              <a:rPr sz="1200">
                <a:solidFill>
                  <a:srgbClr val="FFFFFF"/>
                </a:solidFill>
              </a:rPr>
              <a:t>FastAPI (Python 3.11) with Uvicorn ASGI server.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Vision Inference: </a:t>
            </a:r>
            <a:r>
              <a:rPr sz="1200">
                <a:solidFill>
                  <a:srgbClr val="FFFFFF"/>
                </a:solidFill>
              </a:rPr>
              <a:t>PyTorch CPU-only CLIP ViT-B/32 foundation model running locally.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Preprocessing Pipeline: </a:t>
            </a:r>
            <a:r>
              <a:rPr sz="1200">
                <a:solidFill>
                  <a:srgbClr val="FFFFFF"/>
                </a:solidFill>
              </a:rPr>
              <a:t>Dynamic 16-bit to 8-bit contrast stretching &amp; 224x224 RGB conversion.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Storage Simulation: </a:t>
            </a:r>
            <a:r>
              <a:rPr sz="1200">
                <a:solidFill>
                  <a:srgbClr val="FFFFFF"/>
                </a:solidFill>
              </a:rPr>
              <a:t>Directory-based tiers (cloud_simulation/S3_STANDARD, IA, GLACIER).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Live Cloud Integration: </a:t>
            </a:r>
            <a:r>
              <a:rPr sz="1200">
                <a:solidFill>
                  <a:srgbClr val="FFFFFF"/>
                </a:solidFill>
              </a:rPr>
              <a:t>Amazon S3 bucket in ap-south-1 (intelliarchive-pavan-satellite-2026).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Audit Ledgers: </a:t>
            </a:r>
            <a:r>
              <a:rPr sz="1200">
                <a:solidFill>
                  <a:srgbClr val="FFFFFF"/>
                </a:solidFill>
              </a:rPr>
              <a:t>Atomic CSV ledgers (results/lifecycle_log.csv, importance_scores.csv).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PROPOSED AWS CLOUD PRODUCTION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Container Compute: </a:t>
            </a:r>
            <a:r>
              <a:rPr sz="1200">
                <a:solidFill>
                  <a:srgbClr val="FFFFFF"/>
                </a:solidFill>
              </a:rPr>
              <a:t>AWS ECS Fargate serverless containers (zero server maintenance).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Container Registry: </a:t>
            </a:r>
            <a:r>
              <a:rPr sz="1200">
                <a:solidFill>
                  <a:srgbClr val="FFFFFF"/>
                </a:solidFill>
              </a:rPr>
              <a:t>Amazon ECR (371234372967.dkr.ecr.ap-south-1.amazonaws.com).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Foundation Models: </a:t>
            </a:r>
            <a:r>
              <a:rPr sz="1200">
                <a:solidFill>
                  <a:srgbClr val="FFFFFF"/>
                </a:solidFill>
              </a:rPr>
              <a:t>Amazon Bedrock (Claude 3 / Titan Multimodal) or SageMaker.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Storage Engine: </a:t>
            </a:r>
            <a:r>
              <a:rPr sz="1200">
                <a:solidFill>
                  <a:srgbClr val="FFFFFF"/>
                </a:solidFill>
              </a:rPr>
              <a:t>Amazon S3 Intelligent-Tiering &amp; S3 Lifecycle automated transitions.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Metadata &amp; Audit: </a:t>
            </a:r>
            <a:r>
              <a:rPr sz="1200">
                <a:solidFill>
                  <a:srgbClr val="FFFFFF"/>
                </a:solidFill>
              </a:rPr>
              <a:t>Amazon DynamoDB (low-latency distributed NoSQL lifecycle ledger).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Security: </a:t>
            </a:r>
            <a:r>
              <a:rPr sz="1200">
                <a:solidFill>
                  <a:srgbClr val="FFFFFF"/>
                </a:solidFill>
              </a:rPr>
              <a:t>AWS IAM Task Roles (zero long-lived credentials stored in images).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Vision Foundation Model: CLIP ViT-B/32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Satellite TIFF Radiometry: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16-bit GeoTIFF imagery values cluster near zero and appear black to standard RGB models.</a:t>
            </a:r>
          </a:p>
          <a:p>
            <a:pPr>
              <a:spcBef>
                <a:spcPts val="1200"/>
              </a:spcBef>
              <a:defRPr b="1" sz="1300">
                <a:solidFill>
                  <a:srgbClr val="38BDF8"/>
                </a:solidFill>
              </a:defRPr>
            </a:pPr>
            <a:r>
              <a:t>Dynamic Contrast Stretching: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Per-channel min-max stretching maps pixel range to [0, 255] and resizes to 224×224 RGB.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ZERO-SHOT PROMPT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Semantic Prompt Anchors:</a:t>
            </a:r>
          </a:p>
          <a:p>
            <a:pPr>
              <a:spcBef>
                <a:spcPts val="800"/>
              </a:spcBef>
              <a:defRPr b="1" sz="1200">
                <a:solidFill>
                  <a:srgbClr val="34D399"/>
                </a:solidFill>
              </a:defRPr>
            </a:pPr>
            <a:r>
              <a:t>High (P_H):</a:t>
            </a:r>
          </a:p>
          <a:p>
            <a:pPr>
              <a:defRPr i="1" sz="1100">
                <a:solidFill>
                  <a:srgbClr val="94A3B8"/>
                </a:solidFill>
              </a:defRPr>
            </a:pPr>
            <a:r>
              <a:t>"important satellite image containing urban infrastructure"</a:t>
            </a:r>
          </a:p>
          <a:p>
            <a:pPr>
              <a:spcBef>
                <a:spcPts val="800"/>
              </a:spcBef>
              <a:defRPr b="1" sz="1200">
                <a:solidFill>
                  <a:srgbClr val="FBBF24"/>
                </a:solidFill>
              </a:defRPr>
            </a:pPr>
            <a:r>
              <a:t>Medium (P_M):</a:t>
            </a:r>
          </a:p>
          <a:p>
            <a:pPr>
              <a:defRPr i="1" sz="1100">
                <a:solidFill>
                  <a:srgbClr val="94A3B8"/>
                </a:solidFill>
              </a:defRPr>
            </a:pPr>
            <a:r>
              <a:t>"moderately important satellite image"</a:t>
            </a:r>
          </a:p>
          <a:p>
            <a:pPr>
              <a:spcBef>
                <a:spcPts val="800"/>
              </a:spcBef>
              <a:defRPr b="1" sz="1200">
                <a:solidFill>
                  <a:srgbClr val="F87171"/>
                </a:solidFill>
              </a:defRPr>
            </a:pPr>
            <a:r>
              <a:t>Low (P_L):</a:t>
            </a:r>
          </a:p>
          <a:p>
            <a:pPr>
              <a:defRPr i="1" sz="1100">
                <a:solidFill>
                  <a:srgbClr val="94A3B8"/>
                </a:solidFill>
              </a:defRPr>
            </a:pPr>
            <a:r>
              <a:t>"unimportant satellite image with little useful information"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COMPOSITE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Weighted Score Formula:</a:t>
            </a:r>
          </a:p>
          <a:p>
            <a:pPr>
              <a:spcBef>
                <a:spcPts val="800"/>
              </a:spcBef>
              <a:defRPr b="1" sz="1200">
                <a:solidFill>
                  <a:srgbClr val="38BDF8"/>
                </a:solidFill>
              </a:defRPr>
            </a:pPr>
            <a:r>
              <a:t>Score = (P_H × 100) + (P_M × 50) + (P_L × 0)</a:t>
            </a:r>
          </a:p>
          <a:p>
            <a:pPr>
              <a:spcBef>
                <a:spcPts val="1400"/>
              </a:spcBef>
              <a:defRPr b="1" sz="1300">
                <a:solidFill>
                  <a:srgbClr val="FFFFFF"/>
                </a:solidFill>
              </a:defRPr>
            </a:pPr>
            <a:r>
              <a:t>Tier Thresholds:</a:t>
            </a:r>
          </a:p>
          <a:p>
            <a:pPr>
              <a:spcBef>
                <a:spcPts val="600"/>
              </a:spcBef>
              <a:defRPr b="1" sz="1100">
                <a:solidFill>
                  <a:srgbClr val="34D399"/>
                </a:solidFill>
              </a:defRPr>
            </a:pPr>
            <a:r>
              <a:t>• Score ≥ 70.0: HIGH → S3_STANDARD</a:t>
            </a:r>
          </a:p>
          <a:p>
            <a:pPr>
              <a:spcBef>
                <a:spcPts val="600"/>
              </a:spcBef>
              <a:defRPr b="1" sz="1100">
                <a:solidFill>
                  <a:srgbClr val="FBBF24"/>
                </a:solidFill>
              </a:defRPr>
            </a:pPr>
            <a:r>
              <a:t>• 40.0 ≤ Score &lt; 70.0: MEDIUM → S3_STANDARD_IA</a:t>
            </a:r>
          </a:p>
          <a:p>
            <a:pPr>
              <a:spcBef>
                <a:spcPts val="600"/>
              </a:spcBef>
              <a:defRPr b="1" sz="1100">
                <a:solidFill>
                  <a:srgbClr val="F87171"/>
                </a:solidFill>
              </a:defRPr>
            </a:pPr>
            <a:r>
              <a:t>• Score &lt; 40.0: LOW → S3_GLACIER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 Storage Engine &amp; Live Amazon S3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LOCAL SIMULATION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Multi-Tier Directory Structure: </a:t>
            </a:r>
            <a:r>
              <a:rPr sz="1200">
                <a:solidFill>
                  <a:srgbClr val="FFFFFF"/>
                </a:solidFill>
              </a:rPr>
              <a:t>Separate folders for S3_STANDARD, S3_STANDARD_IA, and S3_GLACIER.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Atomic Multi-Hop Migrations: </a:t>
            </a:r>
            <a:r>
              <a:rPr sz="1200">
                <a:solidFill>
                  <a:srgbClr val="FFFFFF"/>
                </a:solidFill>
              </a:rPr>
              <a:t>Prevents duplicate or orphaned files across re-classification hops.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Audit Trails: </a:t>
            </a:r>
            <a:r>
              <a:rPr sz="1200">
                <a:solidFill>
                  <a:srgbClr val="FFFFFF"/>
                </a:solidFill>
              </a:rPr>
              <a:t>Tracks filename, score, category, source tier, destination tier, and timestamp in results/lifecycle_log.csv.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Analytics Ledger: </a:t>
            </a:r>
            <a:r>
              <a:rPr sz="1200">
                <a:solidFill>
                  <a:srgbClr val="FFFFFF"/>
                </a:solidFill>
              </a:rPr>
              <a:t>Historical score distribution maintained in results/importance_scores.csv.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LIVE AMAZON S3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Target Bucket: </a:t>
            </a:r>
            <a:r>
              <a:rPr sz="1200">
                <a:solidFill>
                  <a:srgbClr val="FFFFFF"/>
                </a:solidFill>
              </a:rPr>
              <a:t>intelliarchive-pavan-satellite-2026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AWS Region: </a:t>
            </a:r>
            <a:r>
              <a:rPr sz="1200">
                <a:solidFill>
                  <a:srgbClr val="FFFFFF"/>
                </a:solidFill>
              </a:rPr>
              <a:t>ap-south-1 (Asia Pacific - Mumbai)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Private Access: </a:t>
            </a:r>
            <a:r>
              <a:rPr sz="1200">
                <a:solidFill>
                  <a:srgbClr val="FFFFFF"/>
                </a:solidFill>
              </a:rPr>
              <a:t>Block Public Access enabled, secured via IAM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Direct Upload Pipeline: </a:t>
            </a:r>
            <a:r>
              <a:rPr sz="1200">
                <a:solidFill>
                  <a:srgbClr val="FFFFFF"/>
                </a:solidFill>
              </a:rPr>
              <a:t>Interactive Archive Browser allows direct multipart upload to S3 prefix satellite-images/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Live Bucket Browser: </a:t>
            </a:r>
            <a:r>
              <a:rPr sz="1200">
                <a:solidFill>
                  <a:srgbClr val="FFFFFF"/>
                </a:solidFill>
              </a:rPr>
              <a:t>Lists remote cloud objects, object sizes, and storage class metadata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Results: SpaceNet Satellite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IMPORTANCE CATEGORY SPREAD</a:t>
            </a:r>
          </a:p>
        </p:txBody>
      </p:sp>
      <p:pic>
        <p:nvPicPr>
          <p:cNvPr id="6" name="Picture 5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754880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STORAGE CLASS ALLOCATION</a:t>
            </a:r>
          </a:p>
        </p:txBody>
      </p:sp>
      <p:pic>
        <p:nvPicPr>
          <p:cNvPr id="9" name="Picture 8" descr="storag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484632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Cloud Cost Optimization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AWS S3 STORAGE PRICING BENCHMARK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S3 Standard (Hot Tier):
</a:t>
            </a:r>
            <a:r>
              <a:rPr sz="1200">
                <a:solidFill>
                  <a:srgbClr val="FFFFFF"/>
                </a:solidFill>
              </a:rPr>
              <a:t>• Rate: $0.023 per GB / month
• Impact: Frequent access, low latency
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S3 Standard-IA (Warm Tier):
</a:t>
            </a:r>
            <a:r>
              <a:rPr sz="1200">
                <a:solidFill>
                  <a:srgbClr val="FFFFFF"/>
                </a:solidFill>
              </a:rPr>
              <a:t>• Rate: $0.0125 per GB / month
• Impact: 45.6% cost reduction vs Standard
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8BDF8"/>
                </a:solidFill>
              </a:rPr>
              <a:t>S3 Glacier Flex (Cold Tier):
</a:t>
            </a:r>
            <a:r>
              <a:rPr sz="1200">
                <a:solidFill>
                  <a:srgbClr val="FFFFFF"/>
                </a:solidFill>
              </a:rPr>
              <a:t>• Rate: $0.0040 per GB / month
• Impact: 82.6% cost reduction vs Standard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63040"/>
            <a:ext cx="46634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645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COST SAVINGS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BBF24"/>
                </a:solidFill>
              </a:defRPr>
            </a:pPr>
            <a:r>
              <a:t>Baseline (Flat S3 Standard):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All satellite imagery retained in S3 Standard @ $0.023/GB.</a:t>
            </a:r>
            <a:br/>
            <a:r>
              <a:t>For a 10 TB archive = $230.00 / month.</a:t>
            </a:r>
          </a:p>
          <a:p>
            <a:pPr>
              <a:spcBef>
                <a:spcPts val="1400"/>
              </a:spcBef>
              <a:defRPr b="1" sz="1300">
                <a:solidFill>
                  <a:srgbClr val="34D399"/>
                </a:solidFill>
              </a:defRPr>
            </a:pPr>
            <a:r>
              <a:t>IntelliArchive Dynamic Tiering: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25% High (S3 Standard): 2.5 TB = $57.50</a:t>
            </a:r>
            <a:br/>
            <a:r>
              <a:t>• 35% Medium (S3 Standard-IA): 3.5 TB = $43.75</a:t>
            </a:r>
            <a:br/>
            <a:r>
              <a:t>• 40% Low (S3 Glacier): 4.0 TB = $16.00</a:t>
            </a:r>
            <a:br/>
            <a:br/>
            <a:r>
              <a:t>Total Optimized = $117.25 / month</a:t>
            </a:r>
          </a:p>
          <a:p>
            <a:pPr>
              <a:spcBef>
                <a:spcPts val="1200"/>
              </a:spcBef>
              <a:defRPr b="1" sz="1500">
                <a:solidFill>
                  <a:srgbClr val="38BDF8"/>
                </a:solidFill>
              </a:defRPr>
            </a:pPr>
            <a:r>
              <a:t>Net Projected Savings: 49.02%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Containerization &amp; Amazon ECR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DOCKER IMAGE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Base Image: </a:t>
            </a:r>
            <a:r>
              <a:rPr sz="1200">
                <a:solidFill>
                  <a:srgbClr val="FFFFFF"/>
                </a:solidFill>
              </a:rPr>
              <a:t>python:3.11-slim for minimal security attack surface.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PyTorch CPU Optimization: </a:t>
            </a:r>
            <a:r>
              <a:rPr sz="1200">
                <a:solidFill>
                  <a:srgbClr val="FFFFFF"/>
                </a:solidFill>
              </a:rPr>
              <a:t>Switched from default CUDA PyTorch wheel (5 GB) to CPU-only wheel (--index-url https://download.pytorch.org/whl/cpu).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Model Pre-Caching: </a:t>
            </a:r>
            <a:r>
              <a:rPr sz="1200">
                <a:solidFill>
                  <a:srgbClr val="FFFFFF"/>
                </a:solidFill>
              </a:rPr>
              <a:t>CLIP ViT-B/32 weights downloaded during build time to eliminate cold-start latency.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Unprivileged User: </a:t>
            </a:r>
            <a:r>
              <a:rPr sz="1200">
                <a:solidFill>
                  <a:srgbClr val="FFFFFF"/>
                </a:solidFill>
              </a:rPr>
              <a:t>Runs as non-root user 'appuser' with least privilege.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• Integrated Healthcheck: </a:t>
            </a:r>
            <a:r>
              <a:rPr sz="1200">
                <a:solidFill>
                  <a:srgbClr val="FFFFFF"/>
                </a:solidFill>
              </a:rPr>
              <a:t>Querying http://localhost:8080/ for zero-downtime container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AMAZON ECR REGISTRY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ECR Repository: </a:t>
            </a:r>
            <a:r>
              <a:rPr sz="1200">
                <a:solidFill>
                  <a:srgbClr val="FFFFFF"/>
                </a:solidFill>
              </a:rPr>
              <a:t>intelliarchive (Private)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Registry URI: </a:t>
            </a:r>
            <a:r>
              <a:rPr sz="1200">
                <a:solidFill>
                  <a:srgbClr val="FFFFFF"/>
                </a:solidFill>
              </a:rPr>
              <a:t>371234372967.dkr.ecr.ap-south-1.amazonaws.com/intelliarchive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Pushed Image Tag: </a:t>
            </a:r>
            <a:r>
              <a:rPr sz="1200">
                <a:solidFill>
                  <a:srgbClr val="FFFFFF"/>
                </a:solidFill>
              </a:rPr>
              <a:t>cpu-test (Active &amp; Verified in ECR)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Image Size: </a:t>
            </a:r>
            <a:r>
              <a:rPr sz="1200">
                <a:solidFill>
                  <a:srgbClr val="FFFFFF"/>
                </a:solidFill>
              </a:rPr>
              <a:t>1.36 GB (Dramatic reduction from initial unoptimized ~12 GB image)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4D399"/>
                </a:solidFill>
              </a:rPr>
              <a:t>• Readiness: </a:t>
            </a:r>
            <a:r>
              <a:rPr sz="1200">
                <a:solidFill>
                  <a:srgbClr val="FFFFFF"/>
                </a:solidFill>
              </a:rPr>
              <a:t>Ready for immediate deployment to AWS ECS Fargate Task Definition.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Automated Verification &amp; Test Suite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TEST SUITE EXECUTION SUMMARY — 41 / 41 TESTS PASSED (100%)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38BDF8"/>
                </a:solidFill>
              </a:defRPr>
            </a:pPr>
            <a:r>
              <a:t>test_lifecycle_storage.py (10 Tests Passed)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Validates storage tier acceptance (S3_STANDARD, S3_STANDARD_IA, S3_GLACIER)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Enforces rejection of invalid storage tiers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Verifies multi-hop migrations cleanly purge stale copies without data loss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Ensures audit CSVs remain synchronized and atomic across concurrent transactions</a:t>
            </a:r>
          </a:p>
          <a:p>
            <a:pPr>
              <a:spcBef>
                <a:spcPts val="800"/>
              </a:spcBef>
              <a:defRPr b="1" sz="1300">
                <a:solidFill>
                  <a:srgbClr val="34D399"/>
                </a:solidFill>
              </a:defRPr>
            </a:pPr>
            <a:r>
              <a:t>test_s3_service.py (24 Tests Passed)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Tests upload success, custom object keys, and missing file error handling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Validates paginated object listing and custom prefix filtering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Ensures zero AWS credentials leak in client error messages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Validates ECS IAM Task Role credential resolution with empty AWS_PROFILE</a:t>
            </a:r>
          </a:p>
          <a:p>
            <a:pPr>
              <a:spcBef>
                <a:spcPts val="800"/>
              </a:spcBef>
              <a:defRPr b="1" sz="1300">
                <a:solidFill>
                  <a:srgbClr val="FBBF24"/>
                </a:solidFill>
              </a:defRPr>
            </a:pPr>
            <a:r>
              <a:t>test_web_app.py (7 Tests Passed)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Validates HTML rendering for Dashboard, Analyze, Archive, Analytics, and 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Tests /api/summary, /api/analytics, /api/lifecycle, and sample preview endpoints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✔  Verifies full end-to-end zero-shot CLIP inference via /api/analyze-sample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 Distribution &amp; Individual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K. PAVAN KUMAR REDDY (24BIT0580)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Cloud Architecture Design: </a:t>
            </a:r>
            <a:r>
              <a:rPr sz="1200">
                <a:solidFill>
                  <a:srgbClr val="FFFFFF"/>
                </a:solidFill>
              </a:rPr>
              <a:t>Formulated S3 storage tier mapping and ECS Fargate deployment topology.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FastAPI Platform &amp; UI: </a:t>
            </a:r>
            <a:r>
              <a:rPr sz="1200">
                <a:solidFill>
                  <a:srgbClr val="FFFFFF"/>
                </a:solidFill>
              </a:rPr>
              <a:t>Designed aerospace dark-theme UI, Jinja2 templates, Chart.js integrations, and REST endpoints.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AWS S3 Integration: </a:t>
            </a:r>
            <a:r>
              <a:rPr sz="1200">
                <a:solidFill>
                  <a:srgbClr val="FFFFFF"/>
                </a:solidFill>
              </a:rPr>
              <a:t>Implemented boto3 wrapper, IAM credential fallback, and live bucket listing/upload service.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Docker Containerization: </a:t>
            </a:r>
            <a:r>
              <a:rPr sz="1200">
                <a:solidFill>
                  <a:srgbClr val="FFFFFF"/>
                </a:solidFill>
              </a:rPr>
              <a:t>Authored Dockerfile, optimized CPU PyTorch wheel, and managed Amazon ECR registry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ANHAD (24BIT0129)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AI Foundation Model Pipeline: </a:t>
            </a:r>
            <a:r>
              <a:rPr sz="1200">
                <a:solidFill>
                  <a:srgbClr val="FFFFFF"/>
                </a:solidFill>
              </a:rPr>
              <a:t>Configured CLIP ViT-B/32 zero-shot classification and semantic prompt anchors.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Image Preprocessing: </a:t>
            </a:r>
            <a:r>
              <a:rPr sz="1200">
                <a:solidFill>
                  <a:srgbClr val="FFFFFF"/>
                </a:solidFill>
              </a:rPr>
              <a:t>Developed dynamic contrast stretching for 16-bit GeoTIFF satellite imagery.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Lifecycle Simulation Ledger: </a:t>
            </a:r>
            <a:r>
              <a:rPr sz="1200">
                <a:solidFill>
                  <a:srgbClr val="FFFFFF"/>
                </a:solidFill>
              </a:rPr>
              <a:t>Implemented atomic local directory tiering and CSV audit logging engines.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Testing &amp; Cost Modeling: </a:t>
            </a:r>
            <a:r>
              <a:rPr sz="1200">
                <a:solidFill>
                  <a:srgbClr val="FFFFFF"/>
                </a:solidFill>
              </a:rPr>
              <a:t>Developed pytest test suites and built the analytical AWS cost comparison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INTELLIARCHIVE | BCSE355L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PROJECT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Proven Content-Aware Tiering: </a:t>
            </a:r>
            <a:r>
              <a:rPr sz="1200">
                <a:solidFill>
                  <a:srgbClr val="FFFFFF"/>
                </a:solidFill>
              </a:rPr>
              <a:t>Demonstrated that satellite semantic scoring avoids premature archival of high-value imagery.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Substantial Cost Savings: </a:t>
            </a:r>
            <a:r>
              <a:rPr sz="1200">
                <a:solidFill>
                  <a:srgbClr val="FFFFFF"/>
                </a:solidFill>
              </a:rPr>
              <a:t>Demonstrated up to 49% monthly cloud storage savings over static S3 Standard storage.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Dual-Mode Flexibility: </a:t>
            </a:r>
            <a:r>
              <a:rPr sz="1200">
                <a:solidFill>
                  <a:srgbClr val="FFFFFF"/>
                </a:solidFill>
              </a:rPr>
              <a:t>Seamlessly switches between offline local simulation and live Amazon S3 private cloud.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8BDF8"/>
                </a:solidFill>
              </a:rPr>
              <a:t>• Production Packaging: </a:t>
            </a:r>
            <a:r>
              <a:rPr sz="1200">
                <a:solidFill>
                  <a:srgbClr val="FFFFFF"/>
                </a:solidFill>
              </a:rPr>
              <a:t>Lightweight, secure Docker container registered in Amazon ECR with 100% test pass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FUTURE CLOUD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Amazon Bedrock Integration: </a:t>
            </a:r>
            <a:r>
              <a:rPr sz="1200">
                <a:solidFill>
                  <a:srgbClr val="FFFFFF"/>
                </a:solidFill>
              </a:rPr>
              <a:t>Utilize multimodal models (Claude 3.5 Sonnet / Amazon Titan) via AWS Bedrock API for cloud-native inference.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Amazon DynamoDB Metadata Index: </a:t>
            </a:r>
            <a:r>
              <a:rPr sz="1200">
                <a:solidFill>
                  <a:srgbClr val="FFFFFF"/>
                </a:solidFill>
              </a:rPr>
              <a:t>Migrate CSV ledgers to DynamoDB with global secondary indexes on semantic score and tier.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AWS EventBridge &amp; Lambda: </a:t>
            </a:r>
            <a:r>
              <a:rPr sz="1200">
                <a:solidFill>
                  <a:srgbClr val="FFFFFF"/>
                </a:solidFill>
              </a:rPr>
              <a:t>Trigger automated inference asynchronously whenever new satellite images land in an S3 intake bucket.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34D399"/>
                </a:solidFill>
              </a:rPr>
              <a:t>• Specialized Geospatial Models: </a:t>
            </a:r>
            <a:r>
              <a:rPr sz="1200">
                <a:solidFill>
                  <a:srgbClr val="FFFFFF"/>
                </a:solidFill>
              </a:rPr>
              <a:t>Incorporate RemoteCLIP or Earth Observation models fine-tuned on multispectral satellite bands.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</a:defRPr>
            </a:pPr>
            <a:r>
              <a:t>IntelliArchive: Intelligent Object Lifecycle Optimization for Satellite Archives</a:t>
            </a:r>
          </a:p>
          <a:p>
            <a:pPr algn="ctr">
              <a:spcBef>
                <a:spcPts val="1200"/>
              </a:spcBef>
              <a:defRPr sz="1600" i="1">
                <a:solidFill>
                  <a:srgbClr val="94A3B8"/>
                </a:solidFill>
              </a:defRPr>
            </a:pPr>
            <a:r>
              <a:t>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